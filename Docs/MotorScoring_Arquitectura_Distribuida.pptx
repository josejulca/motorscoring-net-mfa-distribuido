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7556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F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de Scoring Crediticio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Distribuida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747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.NET 8 · API Gateway · Identidad con MFA · Mensajería asíncrona · Observabilidad</a:t>
            </a:r>
          </a:p>
          <a:p>
            <a:pPr marL="0" indent="0">
              <a:buNone/>
            </a:pPr>
            <a:endParaRPr lang="en-US" sz="14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José Julca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Arquitectura de Software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675120" y="1188720"/>
            <a:ext cx="960120" cy="9601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0" y="1428750"/>
            <a:ext cx="480060" cy="4800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1188720"/>
            <a:ext cx="960120" cy="9601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150" y="1428750"/>
            <a:ext cx="480060" cy="4800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75120" y="2423160"/>
            <a:ext cx="960120" cy="9601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5150" y="2663190"/>
            <a:ext cx="480060" cy="4800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18120" y="2423160"/>
            <a:ext cx="960120" cy="9601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8150" y="2663190"/>
            <a:ext cx="480060" cy="480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motor de scoring dividido en servicios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registra solicitudes de crédito y las evalúa con un modelo de factores ponderados. La solución separa cada responsabilidad en un componente que se ejecuta por su cuenta.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40080" cy="64008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4917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221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independientes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5603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scoring, identidad, notificaciones y Workers como procesos separados.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4892040" y="2331720"/>
            <a:ext cx="640080" cy="64008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24917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2221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síncrona y asíncrona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5603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entre servicios; RabbitMQ y Kafka para eventos.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429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Shape 11"/>
          <p:cNvSpPr/>
          <p:nvPr/>
        </p:nvSpPr>
        <p:spPr>
          <a:xfrm>
            <a:off x="640080" y="3703320"/>
            <a:ext cx="640080" cy="64008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38633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5935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centralizado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9319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 concentra el enrutamiento HTTP externo.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709160" y="3429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5"/>
          <p:cNvSpPr/>
          <p:nvPr/>
        </p:nvSpPr>
        <p:spPr>
          <a:xfrm>
            <a:off x="4892040" y="3703320"/>
            <a:ext cx="640080" cy="64008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2060" y="386334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5935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9319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cAdvisor, Prometheus y Grafana sin modificar el código de los servicios.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ia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617220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0" y="3657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completo, de un vistazo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6675120" y="1691640"/>
            <a:ext cx="2103120" cy="896112"/>
          </a:xfrm>
          <a:prstGeom prst="roundRect">
            <a:avLst>
              <a:gd name="adj" fmla="val 816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 txBox="1"/>
          <p:nvPr/>
        </p:nvSpPr>
        <p:spPr>
          <a:xfrm>
            <a:off x="6812280" y="178308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A5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1783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funcionales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675120" y="2743200"/>
            <a:ext cx="2103120" cy="896112"/>
          </a:xfrm>
          <a:prstGeom prst="roundRect">
            <a:avLst>
              <a:gd name="adj" fmla="val 816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 txBox="1"/>
          <p:nvPr/>
        </p:nvSpPr>
        <p:spPr>
          <a:xfrm>
            <a:off x="6812280" y="283464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A5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346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de </a:t>
            </a:r>
            <a:r>
              <a:rPr lang="en-US" sz="1100" dirty="0" err="1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75120" y="3794760"/>
            <a:ext cx="2103120" cy="896112"/>
          </a:xfrm>
          <a:prstGeom prst="roundRect">
            <a:avLst>
              <a:gd name="adj" fmla="val 816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 txBox="1"/>
          <p:nvPr/>
        </p:nvSpPr>
        <p:spPr>
          <a:xfrm>
            <a:off x="6812280" y="388620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A5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38862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brokers: RabbitMQ y Kafka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Kong: un único punto de entrada HTTP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206240" cy="2514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 (:8082)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/signin-google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 (:8082)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/signin-github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 (:8082)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MotorScoring.Api  (:8080)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931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8000 · Kong 3.9 en modo DB-less</a:t>
            </a:r>
            <a:endParaRPr lang="en-US" sz="1200" dirty="0"/>
          </a:p>
        </p:txBody>
      </p:sp>
      <p:sp>
        <p:nvSpPr>
          <p:cNvPr id="3" name="Shape 2"/>
          <p:cNvSpPr/>
          <p:nvPr/>
        </p:nvSpPr>
        <p:spPr>
          <a:xfrm>
            <a:off x="4983480" y="1280160"/>
            <a:ext cx="3703320" cy="1051560"/>
          </a:xfrm>
          <a:prstGeom prst="roundRect">
            <a:avLst>
              <a:gd name="adj" fmla="val 6957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148072" y="1554480"/>
            <a:ext cx="502920" cy="5029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802" y="16802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06440" y="1371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declarativa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5806440" y="166420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rutas viven en kong.yml; no hizo falta un proyecto .NET nuevo.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983480" y="2468880"/>
            <a:ext cx="3703320" cy="1051560"/>
          </a:xfrm>
          <a:prstGeom prst="roundRect">
            <a:avLst>
              <a:gd name="adj" fmla="val 6957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7"/>
          <p:cNvSpPr/>
          <p:nvPr/>
        </p:nvSpPr>
        <p:spPr>
          <a:xfrm>
            <a:off x="5148072" y="2743200"/>
            <a:ext cx="502920" cy="5029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3802" y="286893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06440" y="25603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OAuth por el gateway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5806440" y="285292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y GitHub regresan a localhost:8000/signin-google y /signin-github.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983480" y="3657600"/>
            <a:ext cx="3703320" cy="1051560"/>
          </a:xfrm>
          <a:prstGeom prst="roundRect">
            <a:avLst>
              <a:gd name="adj" fmla="val 6957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1"/>
          <p:cNvSpPr/>
          <p:nvPr/>
        </p:nvSpPr>
        <p:spPr>
          <a:xfrm>
            <a:off x="5148072" y="3931920"/>
            <a:ext cx="502920" cy="50292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802" y="405765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06440" y="3749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gateway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5806440" y="404164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→ Notificaciones es HTTP interno directo; RabbitMQ y Kafka tampoco pasan por Kong.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Identity: la autenticación como servicio propio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385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Identity con base de datos propia.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68980" y="11887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6"/>
          <p:cNvSpPr/>
          <p:nvPr/>
        </p:nvSpPr>
        <p:spPr>
          <a:xfrm>
            <a:off x="3451860" y="135331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4676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462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y GitHub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51860" y="19385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con inicio de sesión social.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80760" y="11887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Shape 10"/>
          <p:cNvSpPr/>
          <p:nvPr/>
        </p:nvSpPr>
        <p:spPr>
          <a:xfrm>
            <a:off x="6263640" y="135331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4676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y refresh tokens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19385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 MotorScoring.Api; roles y permisos como claims.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Shape 14"/>
          <p:cNvSpPr/>
          <p:nvPr/>
        </p:nvSpPr>
        <p:spPr>
          <a:xfrm>
            <a:off x="640080" y="290779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" y="302209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2907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con TOTP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493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factor con app autenticadora y códigos de recuperación.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268980" y="2743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18"/>
          <p:cNvSpPr/>
          <p:nvPr/>
        </p:nvSpPr>
        <p:spPr>
          <a:xfrm>
            <a:off x="3451860" y="290779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022092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46220" y="2907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451860" y="3493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y Administrador, con permisos de scoring.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080760" y="2743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22"/>
          <p:cNvSpPr/>
          <p:nvPr/>
        </p:nvSpPr>
        <p:spPr>
          <a:xfrm>
            <a:off x="6263640" y="2907792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7940" y="3022092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2907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separada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63640" y="3493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MotorScoringIdentity, distinta de la de scoring.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457200" y="43434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26"/>
          <p:cNvSpPr txBox="1"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externo nuevo recibe el rol Analista; un Administrador existente no se sobrescribe. GitHub es OAuth 2.0 sin OIDC: requiere consultar /user y /user/emails.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MotorScoring.Api: un núcleo hexagonal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280160"/>
            <a:ext cx="4206240" cy="3291840"/>
          </a:xfrm>
          <a:prstGeom prst="hexagon">
            <a:avLst/>
          </a:prstGeom>
          <a:solidFill>
            <a:srgbClr val="D6E4FA"/>
          </a:solidFill>
          <a:ln w="15875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51560" y="1783080"/>
            <a:ext cx="2926080" cy="2286000"/>
          </a:xfrm>
          <a:prstGeom prst="hexagon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1645920" y="2240280"/>
            <a:ext cx="1737360" cy="1371600"/>
          </a:xfrm>
          <a:prstGeom prst="hexagon">
            <a:avLst/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68580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Adaptadores: entrada REST, salida SQL y HTTP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65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Application: casos de uso y puertos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937760" y="1280160"/>
            <a:ext cx="3749040" cy="749808"/>
          </a:xfrm>
          <a:prstGeom prst="roundRect">
            <a:avLst>
              <a:gd name="adj" fmla="val 9756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5120640" y="13533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6276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de solicitudes de crédito (Adapters.Inbound.Api).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2148840"/>
            <a:ext cx="3749040" cy="749808"/>
          </a:xfrm>
          <a:prstGeom prst="roundRect">
            <a:avLst>
              <a:gd name="adj" fmla="val 9756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 txBox="1"/>
          <p:nvPr/>
        </p:nvSpPr>
        <p:spPr>
          <a:xfrm>
            <a:off x="5120640" y="22219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4963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RegistrarSolicitud y EvaluarScoring, expuestos por puertos de entrada.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3017520"/>
            <a:ext cx="3749040" cy="749808"/>
          </a:xfrm>
          <a:prstGeom prst="roundRect">
            <a:avLst>
              <a:gd name="adj" fmla="val 9756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5120640" y="30906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6499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con EF Core en SQL Server y cliente HTTP hacia Notificaciones.Api.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886200"/>
            <a:ext cx="3749040" cy="749808"/>
          </a:xfrm>
          <a:prstGeom prst="roundRect">
            <a:avLst>
              <a:gd name="adj" fmla="val 9756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 txBox="1"/>
          <p:nvPr/>
        </p:nvSpPr>
        <p:spPr>
          <a:xfrm>
            <a:off x="5120640" y="39593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42336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Solicitante, SolicitudCredito, EvaluacionCrediticia y configuración del modelo.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evento, dos brokers, dos propósitos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86000" y="1188720"/>
            <a:ext cx="4572000" cy="502920"/>
          </a:xfrm>
          <a:prstGeom prst="roundRect">
            <a:avLst>
              <a:gd name="adj" fmla="val 14545"/>
            </a:avLst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 txBox="1"/>
          <p:nvPr/>
        </p:nvSpPr>
        <p:spPr>
          <a:xfrm>
            <a:off x="2286000" y="1188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Notificaciones.Api publica EvaluacionCompletada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108960" y="1691640"/>
            <a:ext cx="0" cy="365760"/>
          </a:xfrm>
          <a:prstGeom prst="line">
            <a:avLst/>
          </a:prstGeom>
          <a:noFill/>
          <a:ln w="25400">
            <a:solidFill>
              <a:srgbClr val="EA580C"/>
            </a:solidFill>
            <a:prstDash val="dash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0" cy="365760"/>
          </a:xfrm>
          <a:prstGeom prst="line">
            <a:avLst/>
          </a:prstGeom>
          <a:noFill/>
          <a:ln w="25400">
            <a:solidFill>
              <a:srgbClr val="6D28D9"/>
            </a:solidFill>
            <a:prstDash val="dash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6"/>
          <p:cNvSpPr/>
          <p:nvPr/>
        </p:nvSpPr>
        <p:spPr>
          <a:xfrm>
            <a:off x="685800" y="2286000"/>
            <a:ext cx="594360" cy="5943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2434590"/>
            <a:ext cx="297180" cy="2971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1089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directo scoring.exchange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durable scoring.notificaciones.email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mensajes fallidos (DLQ)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persistentes y confirmación del publicador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709160" y="2103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1EBFF"/>
          </a:solidFill>
          <a:ln w="12700">
            <a:solidFill>
              <a:srgbClr val="F1EB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Shape 11"/>
          <p:cNvSpPr/>
          <p:nvPr/>
        </p:nvSpPr>
        <p:spPr>
          <a:xfrm>
            <a:off x="4937760" y="2286000"/>
            <a:ext cx="594360" cy="59436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350" y="2434590"/>
            <a:ext cx="297180" cy="2971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715000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983480" y="31089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scoring.auditoria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 con acks=all e idempotencia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del mensaje: IdSolicitud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consumo scoring-auditoria-worker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Workers: consumidores independientes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594360" cy="5943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152019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71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Notification.Worker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709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RabbitMQ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(ack) al terminar el proceso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falla: nack sin reencolar, va a la DLQ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mensaje a la vez (prefetch 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correo simulado, registrado en log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1EBFF"/>
          </a:solidFill>
          <a:ln w="12700">
            <a:solidFill>
              <a:srgbClr val="F1EB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4937760" y="1371600"/>
            <a:ext cx="594360" cy="59436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350" y="152019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371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Audit.Worker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1709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Kafka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83480" y="2194560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manual del offset tras procesar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desde el inicio del topic si no hay offset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Añade cada evento a auditoria-scoring.jsonl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vive en un volumen de Docker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2"/>
          <p:cNvSpPr/>
          <p:nvPr/>
        </p:nvSpPr>
        <p:spPr>
          <a:xfrm>
            <a:off x="640080" y="3858768"/>
            <a:ext cx="548640" cy="54864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99592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71600" y="3813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sin biblioteca compartida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41148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 define su propio modelo JSON de EvaluacionCompletada, así compila y se despliega solo.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evaluación de punta a punta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143000" y="1874520"/>
            <a:ext cx="685800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0A58CA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evalúa la solicitud desde la Web (:8081).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94560" y="1554480"/>
            <a:ext cx="640080" cy="640080"/>
          </a:xfrm>
          <a:prstGeom prst="ellipse">
            <a:avLst/>
          </a:prstGeom>
          <a:solidFill>
            <a:srgbClr val="0A58CA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21945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llama al gateway; /api/v1 llega a MotorScoring.Api.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66160" y="1554480"/>
            <a:ext cx="640080" cy="640080"/>
          </a:xfrm>
          <a:prstGeom prst="ellipse">
            <a:avLst/>
          </a:prstGeom>
          <a:solidFill>
            <a:srgbClr val="0A58CA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35661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735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calcula el puntaje y guarda la evaluación en SQL Server.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1554480"/>
            <a:ext cx="640080" cy="640080"/>
          </a:xfrm>
          <a:prstGeom prst="ellipse">
            <a:avLst/>
          </a:prstGeom>
          <a:solidFill>
            <a:srgbClr val="0A58CA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49377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451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informa a Notificaciones.Api por HTTP directo.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1554480"/>
            <a:ext cx="640080" cy="640080"/>
          </a:xfrm>
          <a:prstGeom prst="ellipse">
            <a:avLst/>
          </a:prstGeom>
          <a:solidFill>
            <a:srgbClr val="EA580C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63093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167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publica en RabbitMQ y en Kafka.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80960" y="1554480"/>
            <a:ext cx="640080" cy="640080"/>
          </a:xfrm>
          <a:prstGeom prst="ellipse">
            <a:avLst/>
          </a:prstGeom>
          <a:solidFill>
            <a:srgbClr val="6D28D9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76809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88352" y="274320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simulado y registro de auditoría en .jsonl.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pasos 1 a 4 son HTTP síncrono; el paso 5 desacopla al productor de los consumidores, que procesan a su ritmo.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Despliegue con Docker Compose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352044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Contenedor funcional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motor-scoring-gateway (Kong)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motor-scoring-web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motor-scoring-identity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motor-scoring-notificaciones-api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motor-scoring-notification-worker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motor-scoring-audit-worker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motor-scoring-database (SQL Server)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motor-scoring-rabbitmq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5672 · 15672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motor-scoring-kafka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interno 9092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88720"/>
          <a:ext cx="3017520" cy="128016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F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motor-scoring-cadvisor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motor-scoring-prometheus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motor-scoring-grafana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669280" y="2743200"/>
            <a:ext cx="3017520" cy="1143000"/>
          </a:xfrm>
          <a:prstGeom prst="roundRect">
            <a:avLst>
              <a:gd name="adj" fmla="val 6400"/>
            </a:avLst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2"/>
          <p:cNvSpPr/>
          <p:nvPr/>
        </p:nvSpPr>
        <p:spPr>
          <a:xfrm>
            <a:off x="5806440" y="2880360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740" y="2994660"/>
            <a:ext cx="228600" cy="2286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del entorno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852160" y="34015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docker-compose.v3.yml up -d --build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Observabilidad de infraestructura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624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cAdvisor 0.54.0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65506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por contenedor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8366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06040" y="2148840"/>
            <a:ext cx="0" cy="18288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8"/>
          <p:cNvSpPr/>
          <p:nvPr/>
        </p:nvSpPr>
        <p:spPr>
          <a:xfrm>
            <a:off x="640080" y="2514600"/>
            <a:ext cx="548640" cy="54864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71600" y="2459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1371600" y="27523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y consulta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29809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9090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606040" y="3246120"/>
            <a:ext cx="0" cy="18288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3"/>
          <p:cNvSpPr/>
          <p:nvPr/>
        </p:nvSpPr>
        <p:spPr>
          <a:xfrm>
            <a:off x="457200" y="342900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4"/>
          <p:cNvSpPr/>
          <p:nvPr/>
        </p:nvSpPr>
        <p:spPr>
          <a:xfrm>
            <a:off x="640080" y="3611880"/>
            <a:ext cx="548640" cy="54864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71600" y="3557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371600" y="38496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UP/DOWN, CPU, RAM, red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1371600" y="40782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3000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029200" y="123444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19"/>
          <p:cNvSpPr txBox="1"/>
          <p:nvPr/>
        </p:nvSpPr>
        <p:spPr>
          <a:xfrm>
            <a:off x="521208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caída real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2120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5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→ 9 → 10</a:t>
            </a:r>
            <a:endParaRPr lang="en-US" sz="3800" dirty="0"/>
          </a:p>
        </p:txBody>
      </p:sp>
      <p:sp>
        <p:nvSpPr>
          <p:cNvPr id="26" name="Text 21"/>
          <p:cNvSpPr txBox="1"/>
          <p:nvPr/>
        </p:nvSpPr>
        <p:spPr>
          <a:xfrm>
            <a:off x="5212080" y="25603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UP al detener y volver a levantar motor-scoring-identity; Grafana reflejó ambos cambios.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5029200" y="342900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082F67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3"/>
          <p:cNvSpPr txBox="1"/>
          <p:nvPr/>
        </p:nvSpPr>
        <p:spPr>
          <a:xfrm>
            <a:off x="5212080" y="35478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350" dirty="0"/>
          </a:p>
        </p:txBody>
      </p:sp>
      <p:sp>
        <p:nvSpPr>
          <p:cNvPr id="29" name="Text 24"/>
          <p:cNvSpPr txBox="1"/>
          <p:nvPr/>
        </p:nvSpPr>
        <p:spPr>
          <a:xfrm>
            <a:off x="5212080" y="38404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CPU, RAM, red y estado de contenedores. No incluye métricas de aplicación como latencia por endpoint, códigos HTTP o trazas.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2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Distribuida por fuera, hexagonal por dentro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480560" cy="3246120"/>
          </a:xfrm>
          <a:prstGeom prst="roundRect">
            <a:avLst>
              <a:gd name="adj" fmla="val 2817"/>
            </a:avLst>
          </a:prstGeom>
          <a:solidFill>
            <a:srgbClr val="EAF1FB"/>
          </a:solidFill>
          <a:ln w="15875">
            <a:solidFill>
              <a:srgbClr val="0A58CA"/>
            </a:solidFill>
            <a:prstDash val="dash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distribuido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463040" cy="914400"/>
          </a:xfrm>
          <a:prstGeom prst="hexagon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94560" y="1691640"/>
            <a:ext cx="1463040" cy="914400"/>
          </a:xfrm>
          <a:prstGeom prst="hexagon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2194560" y="1691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MotorScoring.Api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417320" y="2788920"/>
            <a:ext cx="1463040" cy="914400"/>
          </a:xfrm>
          <a:prstGeom prst="hexagon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1417320" y="2788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Notificaciones.Api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94760" y="1920240"/>
            <a:ext cx="9601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3794760" y="19202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83464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 txBox="1"/>
          <p:nvPr/>
        </p:nvSpPr>
        <p:spPr>
          <a:xfrm>
            <a:off x="3200400" y="2834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342900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82F6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 txBox="1"/>
          <p:nvPr/>
        </p:nvSpPr>
        <p:spPr>
          <a:xfrm>
            <a:off x="3200400" y="3429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Kong, brokers, BD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995928"/>
            <a:ext cx="274320" cy="201168"/>
          </a:xfrm>
          <a:prstGeom prst="hexagon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1051560" y="3959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hexagonal interna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57800" y="1280160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1394460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97880" y="120700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independientes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servicio y Worker arranca, se detiene o falla por separado.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257800" y="2121408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2235708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897880" y="204825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por red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5897880" y="234086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HTTP, AMQP y protocolo de Kafka entre componentes.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5257800" y="2962656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3076956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897880" y="28895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Fallos parciales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5897880" y="318211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Identity caído, Scoring, Kong, los brokers y los Workers siguieron UP.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5257800" y="3803904"/>
            <a:ext cx="457200" cy="4572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3918204"/>
            <a:ext cx="228600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5897880" y="37307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Desacoplamiento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5897880" y="40233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brokers separan al productor de sus consumidores.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08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arquitectura organiza el sistema entre procesos; la otra, el interior de cada servicio. No compiten.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2F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0B3A80"/>
          </a:solidFill>
          <a:ln w="12700">
            <a:solidFill>
              <a:srgbClr val="0B3A8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85800" cy="6858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 separadas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90195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procesos .NET independientes más Kong, SQL Server, RabbitMQ y Kafka.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0B3A80"/>
          </a:solidFill>
          <a:ln w="12700">
            <a:solidFill>
              <a:srgbClr val="0B3A8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Shape 6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0" y="15544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híbrida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190195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síncrono entre servicios y mensajería asíncrona para notificar y auditar.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0B3A80"/>
          </a:solidFill>
          <a:ln w="12700">
            <a:solidFill>
              <a:srgbClr val="0B3A8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685800" cy="6858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530" y="35547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centralizada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 enruta la API, la identidad y los callbacks OAuth.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709160" y="30175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0B3A80"/>
          </a:solidFill>
          <a:ln w="12700">
            <a:solidFill>
              <a:srgbClr val="0B3A8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Shape 14"/>
          <p:cNvSpPr/>
          <p:nvPr/>
        </p:nvSpPr>
        <p:spPr>
          <a:xfrm>
            <a:off x="4892040" y="3383280"/>
            <a:ext cx="685800" cy="685800"/>
          </a:xfrm>
          <a:prstGeom prst="ellipse">
            <a:avLst/>
          </a:prstGeom>
          <a:solidFill>
            <a:srgbClr val="0A58CA"/>
          </a:solidFill>
          <a:ln w="12700">
            <a:solidFill>
              <a:srgbClr val="0A58C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3490" y="355473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6072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 verificada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76072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comprobó la caída y recuperación de un contenedor en Grafana.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1033</Words>
  <Application>Microsoft Office PowerPoint</Application>
  <PresentationFormat>On-screen Show (16:9)</PresentationFormat>
  <Paragraphs>205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Scoring Crediticio - Arquitectura Distribuida</dc:title>
  <dc:subject>PptxGenJS Presentation</dc:subject>
  <dc:creator>PptxGenJS</dc:creator>
  <cp:lastModifiedBy>José Antonio Julca Díaz</cp:lastModifiedBy>
  <cp:revision>2</cp:revision>
  <dcterms:created xsi:type="dcterms:W3CDTF">2026-09-30T00:25:09Z</dcterms:created>
  <dcterms:modified xsi:type="dcterms:W3CDTF">2026-10-01T02:54:13Z</dcterms:modified>
</cp:coreProperties>
</file>