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F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de Scoring Crediticio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Distribuida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.NET 8 · API Gateway · Identidad con MFA · Mensajería asíncrona · Observabilidad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Arquitectura de Software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75120" y="1188720"/>
            <a:ext cx="960120" cy="96012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0" y="1428750"/>
            <a:ext cx="480060" cy="4800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1188720"/>
            <a:ext cx="960120" cy="96012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150" y="1428750"/>
            <a:ext cx="480060" cy="4800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75120" y="2423160"/>
            <a:ext cx="960120" cy="96012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150" y="2663190"/>
            <a:ext cx="480060" cy="4800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818120" y="2423160"/>
            <a:ext cx="960120" cy="96012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8150" y="2663190"/>
            <a:ext cx="480060" cy="480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2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motor de scoring dividido en servicios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registra solicitudes de crédito y las evalúa con un modelo de factores ponderados. La solución separa cada responsabilidad en un componente que se ejecuta por su cuenta.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31720"/>
            <a:ext cx="640080" cy="64008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4917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221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independientes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560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scoring, identidad, notificaciones y Workers como procesos separados.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205740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2331720"/>
            <a:ext cx="640080" cy="64008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24917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2221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síncrona y asíncrona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2560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entre servicios; RabbitMQ y Kafka para eventos.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42900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3703320"/>
            <a:ext cx="640080" cy="64008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8633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5935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centralizado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9319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concentra el enrutamiento HTTP externo.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09160" y="342900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703320"/>
            <a:ext cx="640080" cy="64008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8633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15000" y="35935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715000" y="39319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cAdvisor, Prometheus y Grafana sin modificar el código de los servicios.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9728"/>
            <a:ext cx="6172200" cy="4937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75120" y="3657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82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completo, de un vistazo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6675120" y="169164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12280" y="178308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5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498080" y="178308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funcionales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675120" y="274320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12280" y="283464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5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83464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de observabilidad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75120" y="3794760"/>
            <a:ext cx="2103120" cy="896112"/>
          </a:xfrm>
          <a:prstGeom prst="roundRect">
            <a:avLst>
              <a:gd name="adj" fmla="val 816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12280" y="3886200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5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3886200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brokers: RabbitMQ y Kafka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2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Kong: un único punto de entrada HTTP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206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F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F6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 (:8082)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/signin-google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 (:8082)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/signin-github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 (:8082)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MotorScoring.Api  (:8080)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931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8000 · Kong 3.9 en modo DB-less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983480" y="1280160"/>
            <a:ext cx="3703320" cy="1051560"/>
          </a:xfrm>
          <a:prstGeom prst="roundRect">
            <a:avLst>
              <a:gd name="adj" fmla="val 6957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148072" y="1554480"/>
            <a:ext cx="502920" cy="50292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3802" y="168021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806440" y="13716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declarativa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5806440" y="166420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rutas viven en kong.yml; no hizo falta un proyecto .NET nuevo.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983480" y="2468880"/>
            <a:ext cx="3703320" cy="1051560"/>
          </a:xfrm>
          <a:prstGeom prst="roundRect">
            <a:avLst>
              <a:gd name="adj" fmla="val 6957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148072" y="2743200"/>
            <a:ext cx="502920" cy="50292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802" y="286893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806440" y="25603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OAuth por el gateway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5806440" y="285292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y GitHub regresan a localhost:8000/signin-google y /signin-github.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983480" y="3657600"/>
            <a:ext cx="3703320" cy="1051560"/>
          </a:xfrm>
          <a:prstGeom prst="roundRect">
            <a:avLst>
              <a:gd name="adj" fmla="val 6957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148072" y="3931920"/>
            <a:ext cx="502920" cy="50292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802" y="405765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806440" y="3749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gateway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5806440" y="404164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→ Notificaciones es HTTP interno directo; RabbitMQ y Kafka tampoco pasan por Kong.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2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Identity: la autenticación como servicio propio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6761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53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local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385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Identity con base de datos propia.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68980" y="1188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1860" y="1353312"/>
            <a:ext cx="457200" cy="45720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6761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46220" y="1353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y GitHub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51860" y="19385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con inicio de sesión social.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80760" y="1188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353312"/>
            <a:ext cx="457200" cy="45720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46761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353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y refresh tokens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19385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 MotorScoring.Api; roles y permisos como claims.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2743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2907792"/>
            <a:ext cx="457200" cy="45720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02209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2907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con TOTP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4930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factor con app autenticadora y códigos de recuperación.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3268980" y="2743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1860" y="2907792"/>
            <a:ext cx="457200" cy="45720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022092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46220" y="2907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3451860" y="34930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y Administrador, con permisos de scoring.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080760" y="2743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63640" y="2907792"/>
            <a:ext cx="457200" cy="45720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3022092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2907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separada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6263640" y="34930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MotorScoringIdentity, distinta de la de scoring.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457200" y="43434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82F67"/>
          </a:solidFill>
          <a:ln w="12700">
            <a:solidFill>
              <a:srgbClr val="082F67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externo nuevo recibe el rol Analista; un Administrador existente no se sobrescribe. GitHub es OAuth 2.0 sin OIDC: requiere consultar /user y /user/emails.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2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MotorScoring.Api: un núcleo hexagonal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280160"/>
            <a:ext cx="4206240" cy="3291840"/>
          </a:xfrm>
          <a:prstGeom prst="hexagon">
            <a:avLst/>
          </a:prstGeom>
          <a:solidFill>
            <a:srgbClr val="D6E4FA"/>
          </a:solidFill>
          <a:ln w="15875">
            <a:solidFill>
              <a:srgbClr val="0A58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783080"/>
            <a:ext cx="2926080" cy="2286000"/>
          </a:xfrm>
          <a:prstGeom prst="hexagon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2240280"/>
            <a:ext cx="1737360" cy="1371600"/>
          </a:xfrm>
          <a:prstGeom prst="hexagon">
            <a:avLst/>
          </a:prstGeom>
          <a:solidFill>
            <a:srgbClr val="082F67"/>
          </a:solidFill>
          <a:ln w="12700">
            <a:solidFill>
              <a:srgbClr val="082F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Adaptadores: entrada REST, salida SQL y HTTP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65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casos de uso y puertos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y reglas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37760" y="1280160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1353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62763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de solicitudes de crédito (Adapters.Inbound.Api).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148840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2221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49631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RegistrarSolicitud y EvaluarScoring, expuestos por puertos de entrada.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3017520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3090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36499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con EF Core en SQL Server y cliente HTTP hacia Notificaciones.Api.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3886200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0" y="3959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423367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Solicitante, SolicitudCredito, EvaluacionCrediticia y configuración del modelo.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2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evento, dos brokers, dos propósitos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0" y="118872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082F67"/>
          </a:solidFill>
          <a:ln w="12700">
            <a:solidFill>
              <a:srgbClr val="082F6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86000" y="1188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Notificaciones.Api publica EvaluacionCompletada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108960" y="1691640"/>
            <a:ext cx="0" cy="365760"/>
          </a:xfrm>
          <a:prstGeom prst="line">
            <a:avLst/>
          </a:prstGeom>
          <a:noFill/>
          <a:ln w="25400">
            <a:solidFill>
              <a:srgbClr val="EA580C"/>
            </a:solidFill>
            <a:prstDash val="dash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35040" y="1691640"/>
            <a:ext cx="0" cy="365760"/>
          </a:xfrm>
          <a:prstGeom prst="line">
            <a:avLst/>
          </a:prstGeom>
          <a:noFill/>
          <a:ln w="25400">
            <a:solidFill>
              <a:srgbClr val="6D28D9"/>
            </a:solidFill>
            <a:prstDash val="dash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86000"/>
            <a:ext cx="594360" cy="5943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434590"/>
            <a:ext cx="297180" cy="2971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2624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1089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directo scoring.exchange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durable scoring.notificaciones.email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de mensajes fallidos (DLQ)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persistentes y confirmación del publicador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709160" y="210312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F1EBFF"/>
          </a:solidFill>
          <a:ln w="12700">
            <a:solidFill>
              <a:srgbClr val="F1EB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37760" y="2286000"/>
            <a:ext cx="594360" cy="5943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2434590"/>
            <a:ext cx="297180" cy="29718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71500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0" y="2624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983480" y="31089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scoring.auditoria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 con acks=all e idempotencia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del mensaje: IdSolicitud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consumo scoring-auditoria-worker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2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Workers: consumidores independientes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2286000"/>
          </a:xfrm>
          <a:prstGeom prst="roundRect">
            <a:avLst>
              <a:gd name="adj" fmla="val 3200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594360" cy="59436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5201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Notification.Worker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709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RabbitMQ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9456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(ack) al terminar el proceso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falla: nack sin reencolar, va a la DLQ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un mensaje a la vez (prefetch 1)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 correo simulado, registrado en log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77640" cy="2286000"/>
          </a:xfrm>
          <a:prstGeom prst="roundRect">
            <a:avLst>
              <a:gd name="adj" fmla="val 3200"/>
            </a:avLst>
          </a:prstGeom>
          <a:solidFill>
            <a:srgbClr val="F1EBFF"/>
          </a:solidFill>
          <a:ln w="12700">
            <a:solidFill>
              <a:srgbClr val="F1EB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371600"/>
            <a:ext cx="594360" cy="59436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52019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Audit.Worker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1709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Kafka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219456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manual del offset tras procesar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desde el inicio del topic si no hay offset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cada evento a auditoria-scoring.jsonl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vive en un volumen de Docker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82F67"/>
          </a:solidFill>
          <a:ln w="12700">
            <a:solidFill>
              <a:srgbClr val="082F6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3858768"/>
            <a:ext cx="548640" cy="54864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9592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3813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sin biblioteca compartida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1371600" y="41148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proyecto define su propio modelo JSON de EvaluacionCompletada, así compila y se despliega solo.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2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evaluación de punta a punta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43000" y="1874520"/>
            <a:ext cx="685800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0A58C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743200"/>
            <a:ext cx="1225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evalúa la solicitud desde la Web (:8081).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94560" y="1554480"/>
            <a:ext cx="640080" cy="640080"/>
          </a:xfrm>
          <a:prstGeom prst="ellipse">
            <a:avLst/>
          </a:prstGeom>
          <a:solidFill>
            <a:srgbClr val="0A58C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945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901952" y="2743200"/>
            <a:ext cx="1225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Web llama al gateway; /api/v1 llega a MotorScoring.Api.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66160" y="1554480"/>
            <a:ext cx="640080" cy="640080"/>
          </a:xfrm>
          <a:prstGeom prst="ellipse">
            <a:avLst/>
          </a:prstGeom>
          <a:solidFill>
            <a:srgbClr val="0A58C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273552" y="2743200"/>
            <a:ext cx="1225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calcula el puntaje y guarda la evaluación en SQL Server.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37760" y="1554480"/>
            <a:ext cx="640080" cy="640080"/>
          </a:xfrm>
          <a:prstGeom prst="ellipse">
            <a:avLst/>
          </a:prstGeom>
          <a:solidFill>
            <a:srgbClr val="0A58C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45152" y="2743200"/>
            <a:ext cx="1225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informa a Notificaciones.Api por HTTP directo.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1554480"/>
            <a:ext cx="640080" cy="640080"/>
          </a:xfrm>
          <a:prstGeom prst="ellipse">
            <a:avLst/>
          </a:prstGeom>
          <a:solidFill>
            <a:srgbClr val="EA580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016752" y="2743200"/>
            <a:ext cx="1225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publica en RabbitMQ y en Kafka.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80960" y="1554480"/>
            <a:ext cx="640080" cy="640080"/>
          </a:xfrm>
          <a:prstGeom prst="ellipse">
            <a:avLst/>
          </a:prstGeom>
          <a:solidFill>
            <a:srgbClr val="6D28D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88352" y="2743200"/>
            <a:ext cx="1225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simulado y registro de auditoría en .jsonl.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1 a 4 son HTTP síncrono; el paso 5 desacopla al productor de los consumidores, que procesan a su ritmo.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2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 con Docker Compose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93776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15087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Contenedor funcional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F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F6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motor-scoring-gateway (Kong)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motor-scoring-api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motor-scoring-web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motor-scoring-identity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motor-scoring-notificaciones-api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motor-scoring-notification-worker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motor-scoring-audit-worker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motor-scoring-database (SQL Server)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motor-scoring-rabbitmq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5672 · 15672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motor-scoring-kafka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interno 9092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188720"/>
          <a:ext cx="301752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051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F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F6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motor-scoring-cadvisor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motor-scoring-prometheus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motor-scoring-grafana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669280" y="274320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082F67"/>
          </a:solidFill>
          <a:ln w="12700">
            <a:solidFill>
              <a:srgbClr val="082F6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806440" y="2880360"/>
            <a:ext cx="457200" cy="45720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0740" y="2994660"/>
            <a:ext cx="228600" cy="2286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del entorno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5852160" y="34015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-f docker-compose.v3.yml up -d --build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2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Observabilidad de infraestructura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624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cAdvisor 0.54.0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6550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por contenedor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8836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5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8084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06040" y="2148840"/>
            <a:ext cx="0" cy="18288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57200" y="233172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517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71600" y="2459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1371600" y="27523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y consulta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1371600" y="29809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5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9090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606040" y="3246120"/>
            <a:ext cx="0" cy="18288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57200" y="342900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" y="3611880"/>
            <a:ext cx="548640" cy="54864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490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71600" y="3557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1371600" y="38496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UP/DOWN, CPU, RAM, red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1371600" y="40782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5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3000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029200" y="123444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21208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caída real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5212080" y="1783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5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→ 9 → 10</a:t>
            </a:r>
            <a:endParaRPr lang="en-US" sz="3800" dirty="0"/>
          </a:p>
        </p:txBody>
      </p:sp>
      <p:sp>
        <p:nvSpPr>
          <p:cNvPr id="26" name="Text 21"/>
          <p:cNvSpPr txBox="1"/>
          <p:nvPr/>
        </p:nvSpPr>
        <p:spPr>
          <a:xfrm>
            <a:off x="5212080" y="2560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UP al detener y volver a levantar motor-scoring-identity; Grafana reflejó ambos cambios.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029200" y="342900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082F67"/>
          </a:solidFill>
          <a:ln w="12700">
            <a:solidFill>
              <a:srgbClr val="082F6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212080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5212080" y="38404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CPU, RAM, red y estado de contenedores. No incluye métricas de aplicación como latencia por endpoint, códigos HTTP o trazas.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2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Distribuida por fuera, hexagonal por dentro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480560" cy="3246120"/>
          </a:xfrm>
          <a:prstGeom prst="roundRect">
            <a:avLst>
              <a:gd name="adj" fmla="val 2817"/>
            </a:avLst>
          </a:prstGeom>
          <a:solidFill>
            <a:srgbClr val="EAF1FB"/>
          </a:solidFill>
          <a:ln w="15875">
            <a:solidFill>
              <a:srgbClr val="0A58CA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distribuido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463040" cy="914400"/>
          </a:xfrm>
          <a:prstGeom prst="hexagon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94560" y="1691640"/>
            <a:ext cx="1463040" cy="914400"/>
          </a:xfrm>
          <a:prstGeom prst="hexagon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16916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MotorScoring.Api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417320" y="2788920"/>
            <a:ext cx="1463040" cy="914400"/>
          </a:xfrm>
          <a:prstGeom prst="hexagon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2788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Notificaciones.Api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94760" y="192024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82F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4760" y="19202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283464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82F6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342900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82F6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00400" y="3429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Kong, brokers, BD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3995928"/>
            <a:ext cx="274320" cy="201168"/>
          </a:xfrm>
          <a:prstGeom prst="hexagon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3959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hexagonal interna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57800" y="1280160"/>
            <a:ext cx="457200" cy="45720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0" y="1394460"/>
            <a:ext cx="228600" cy="2286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897880" y="12070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independientes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5897880" y="149961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y Worker arranca, se detiene o falla por separado.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257800" y="2121408"/>
            <a:ext cx="457200" cy="45720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2235708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897880" y="20482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por red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5897880" y="234086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AMQP y protocolo de Kafka entre componentes.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257800" y="2962656"/>
            <a:ext cx="457200" cy="45720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3076956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897880" y="28895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 parciales</a:t>
            </a:r>
            <a:endParaRPr lang="en-US" sz="1350" dirty="0"/>
          </a:p>
        </p:txBody>
      </p:sp>
      <p:sp>
        <p:nvSpPr>
          <p:cNvPr id="30" name="Text 25"/>
          <p:cNvSpPr txBox="1"/>
          <p:nvPr/>
        </p:nvSpPr>
        <p:spPr>
          <a:xfrm>
            <a:off x="5897880" y="31821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Identity caído, Scoring, Kong, los brokers y los Workers siguieron UP.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257800" y="3803904"/>
            <a:ext cx="457200" cy="45720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00" y="3918204"/>
            <a:ext cx="228600" cy="22860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5897880" y="37307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Desacoplamiento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5897880" y="4023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brokers separan al productor de sus consumidores.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8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arquitectura organiza el sistema entre procesos; la otra, el interior de cada servicio. No compiten.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2F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0B3A80"/>
          </a:solidFill>
          <a:ln w="12700">
            <a:solidFill>
              <a:srgbClr val="0B3A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737360"/>
            <a:ext cx="685800" cy="68580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9088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 separadas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90195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procesos .NET independientes más Kong, SQL Server, RabbitMQ y Kafka.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3716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0B3A80"/>
          </a:solidFill>
          <a:ln w="12700">
            <a:solidFill>
              <a:srgbClr val="0B3A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737360"/>
            <a:ext cx="685800" cy="68580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9088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5544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híbrida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90195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síncrono entre servicios y mensajería asíncrona para notificar y auditar.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0175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0B3A80"/>
          </a:solidFill>
          <a:ln w="12700">
            <a:solidFill>
              <a:srgbClr val="0B3A8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383280"/>
            <a:ext cx="685800" cy="68580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355473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2004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centralizada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54787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enruta la API, la identidad y los callbacks OAuth.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09160" y="30175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0B3A80"/>
          </a:solidFill>
          <a:ln w="12700">
            <a:solidFill>
              <a:srgbClr val="0B3A8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383280"/>
            <a:ext cx="685800" cy="685800"/>
          </a:xfrm>
          <a:prstGeom prst="ellipse">
            <a:avLst/>
          </a:prstGeom>
          <a:solidFill>
            <a:srgbClr val="0A58CA"/>
          </a:solidFill>
          <a:ln w="12700">
            <a:solidFill>
              <a:srgbClr val="0A58C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90" y="355473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32004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verificada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354787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comprobó la caída y recuperación de un contenedor en Grafana.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Motor de Scoring Crediticio - Arquitectura Distribuida</dc:title>
  <dc:subject>PptxGenJS Presentation</dc:subject>
  <dc:creator>PptxGenJS</dc:creator>
  <cp:lastModifiedBy>PptxGenJS</cp:lastModifiedBy>
  <cp:revision>1</cp:revision>
  <dcterms:created xsi:type="dcterms:W3CDTF">2026-09-30T00:25:09Z</dcterms:created>
  <dcterms:modified xsi:type="dcterms:W3CDTF">2026-09-30T00:25:09Z</dcterms:modified>
</cp:coreProperties>
</file>